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5" r:id="rId6"/>
    <p:sldId id="264" r:id="rId7"/>
    <p:sldId id="262" r:id="rId8"/>
    <p:sldId id="266"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86737D-55FE-4C41-93B3-92A06FED69C5}" v="24" dt="2025-07-16T07:33:21.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197"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vetha S" userId="a83978eca231f15f" providerId="LiveId" clId="{2F86737D-55FE-4C41-93B3-92A06FED69C5}"/>
    <pc:docChg chg="undo custSel addSld delSld modSld">
      <pc:chgData name="Nivetha S" userId="a83978eca231f15f" providerId="LiveId" clId="{2F86737D-55FE-4C41-93B3-92A06FED69C5}" dt="2025-07-16T07:35:35.563" v="311" actId="1076"/>
      <pc:docMkLst>
        <pc:docMk/>
      </pc:docMkLst>
      <pc:sldChg chg="addSp modSp mod">
        <pc:chgData name="Nivetha S" userId="a83978eca231f15f" providerId="LiveId" clId="{2F86737D-55FE-4C41-93B3-92A06FED69C5}" dt="2025-07-16T07:33:28.695" v="304" actId="1076"/>
        <pc:sldMkLst>
          <pc:docMk/>
          <pc:sldMk cId="4000598302" sldId="257"/>
        </pc:sldMkLst>
        <pc:spChg chg="add mod">
          <ac:chgData name="Nivetha S" userId="a83978eca231f15f" providerId="LiveId" clId="{2F86737D-55FE-4C41-93B3-92A06FED69C5}" dt="2025-07-16T07:33:28.695" v="304" actId="1076"/>
          <ac:spMkLst>
            <pc:docMk/>
            <pc:sldMk cId="4000598302" sldId="257"/>
            <ac:spMk id="4" creationId="{A1EA0C63-40C2-97BC-AB11-08871438EE41}"/>
          </ac:spMkLst>
        </pc:spChg>
        <pc:picChg chg="mod">
          <ac:chgData name="Nivetha S" userId="a83978eca231f15f" providerId="LiveId" clId="{2F86737D-55FE-4C41-93B3-92A06FED69C5}" dt="2025-07-16T07:33:21.144" v="303" actId="1076"/>
          <ac:picMkLst>
            <pc:docMk/>
            <pc:sldMk cId="4000598302" sldId="257"/>
            <ac:picMk id="1030" creationId="{00000000-0000-0000-0000-000000000000}"/>
          </ac:picMkLst>
        </pc:picChg>
      </pc:sldChg>
      <pc:sldChg chg="modSp mod">
        <pc:chgData name="Nivetha S" userId="a83978eca231f15f" providerId="LiveId" clId="{2F86737D-55FE-4C41-93B3-92A06FED69C5}" dt="2025-07-16T07:33:55.364" v="306" actId="113"/>
        <pc:sldMkLst>
          <pc:docMk/>
          <pc:sldMk cId="238131178" sldId="258"/>
        </pc:sldMkLst>
        <pc:spChg chg="mod">
          <ac:chgData name="Nivetha S" userId="a83978eca231f15f" providerId="LiveId" clId="{2F86737D-55FE-4C41-93B3-92A06FED69C5}" dt="2025-07-16T07:33:55.364" v="306" actId="113"/>
          <ac:spMkLst>
            <pc:docMk/>
            <pc:sldMk cId="238131178" sldId="258"/>
            <ac:spMk id="3" creationId="{00000000-0000-0000-0000-000000000000}"/>
          </ac:spMkLst>
        </pc:spChg>
      </pc:sldChg>
      <pc:sldChg chg="addSp delSp modSp mod">
        <pc:chgData name="Nivetha S" userId="a83978eca231f15f" providerId="LiveId" clId="{2F86737D-55FE-4C41-93B3-92A06FED69C5}" dt="2025-07-16T07:12:30.101" v="156" actId="27636"/>
        <pc:sldMkLst>
          <pc:docMk/>
          <pc:sldMk cId="3416131818" sldId="260"/>
        </pc:sldMkLst>
        <pc:spChg chg="add del mod">
          <ac:chgData name="Nivetha S" userId="a83978eca231f15f" providerId="LiveId" clId="{2F86737D-55FE-4C41-93B3-92A06FED69C5}" dt="2025-07-16T07:12:30.101" v="156" actId="27636"/>
          <ac:spMkLst>
            <pc:docMk/>
            <pc:sldMk cId="3416131818" sldId="260"/>
            <ac:spMk id="3" creationId="{00000000-0000-0000-0000-000000000000}"/>
          </ac:spMkLst>
        </pc:spChg>
        <pc:spChg chg="add">
          <ac:chgData name="Nivetha S" userId="a83978eca231f15f" providerId="LiveId" clId="{2F86737D-55FE-4C41-93B3-92A06FED69C5}" dt="2025-07-16T07:09:59.283" v="86"/>
          <ac:spMkLst>
            <pc:docMk/>
            <pc:sldMk cId="3416131818" sldId="260"/>
            <ac:spMk id="4" creationId="{5097E48F-05FB-70EA-66CF-CD235768EC50}"/>
          </ac:spMkLst>
        </pc:spChg>
        <pc:spChg chg="add del">
          <ac:chgData name="Nivetha S" userId="a83978eca231f15f" providerId="LiveId" clId="{2F86737D-55FE-4C41-93B3-92A06FED69C5}" dt="2025-07-16T07:10:10.941" v="91" actId="21"/>
          <ac:spMkLst>
            <pc:docMk/>
            <pc:sldMk cId="3416131818" sldId="260"/>
            <ac:spMk id="5" creationId="{1DC314EF-9DD6-66B1-96E9-D34462E7AD6F}"/>
          </ac:spMkLst>
        </pc:spChg>
        <pc:spChg chg="add mod">
          <ac:chgData name="Nivetha S" userId="a83978eca231f15f" providerId="LiveId" clId="{2F86737D-55FE-4C41-93B3-92A06FED69C5}" dt="2025-07-16T07:10:09.090" v="90" actId="21"/>
          <ac:spMkLst>
            <pc:docMk/>
            <pc:sldMk cId="3416131818" sldId="260"/>
            <ac:spMk id="6" creationId="{C376C5AB-0D1A-C5BE-8530-73A811657540}"/>
          </ac:spMkLst>
        </pc:spChg>
      </pc:sldChg>
      <pc:sldChg chg="del">
        <pc:chgData name="Nivetha S" userId="a83978eca231f15f" providerId="LiveId" clId="{2F86737D-55FE-4C41-93B3-92A06FED69C5}" dt="2025-07-16T06:58:59.183" v="25" actId="47"/>
        <pc:sldMkLst>
          <pc:docMk/>
          <pc:sldMk cId="206518286" sldId="261"/>
        </pc:sldMkLst>
      </pc:sldChg>
      <pc:sldChg chg="addSp delSp modSp del mod">
        <pc:chgData name="Nivetha S" userId="a83978eca231f15f" providerId="LiveId" clId="{2F86737D-55FE-4C41-93B3-92A06FED69C5}" dt="2025-07-16T07:01:30.770" v="26" actId="47"/>
        <pc:sldMkLst>
          <pc:docMk/>
          <pc:sldMk cId="3037736603" sldId="263"/>
        </pc:sldMkLst>
        <pc:picChg chg="mod">
          <ac:chgData name="Nivetha S" userId="a83978eca231f15f" providerId="LiveId" clId="{2F86737D-55FE-4C41-93B3-92A06FED69C5}" dt="2025-07-16T06:25:54.189" v="24" actId="14100"/>
          <ac:picMkLst>
            <pc:docMk/>
            <pc:sldMk cId="3037736603" sldId="263"/>
            <ac:picMk id="5" creationId="{E06FDF89-24DD-0CEF-258C-261FD43AE1BA}"/>
          </ac:picMkLst>
        </pc:picChg>
        <pc:picChg chg="add del mod">
          <ac:chgData name="Nivetha S" userId="a83978eca231f15f" providerId="LiveId" clId="{2F86737D-55FE-4C41-93B3-92A06FED69C5}" dt="2025-07-16T06:25:38.701" v="22" actId="478"/>
          <ac:picMkLst>
            <pc:docMk/>
            <pc:sldMk cId="3037736603" sldId="263"/>
            <ac:picMk id="7" creationId="{CC452656-39FC-D3F7-59D1-6F71DF5A305E}"/>
          </ac:picMkLst>
        </pc:picChg>
      </pc:sldChg>
      <pc:sldChg chg="modSp mod">
        <pc:chgData name="Nivetha S" userId="a83978eca231f15f" providerId="LiveId" clId="{2F86737D-55FE-4C41-93B3-92A06FED69C5}" dt="2025-07-16T06:21:31.353" v="18" actId="2711"/>
        <pc:sldMkLst>
          <pc:docMk/>
          <pc:sldMk cId="3332963013" sldId="264"/>
        </pc:sldMkLst>
        <pc:spChg chg="mod">
          <ac:chgData name="Nivetha S" userId="a83978eca231f15f" providerId="LiveId" clId="{2F86737D-55FE-4C41-93B3-92A06FED69C5}" dt="2025-07-16T06:21:31.353" v="18" actId="2711"/>
          <ac:spMkLst>
            <pc:docMk/>
            <pc:sldMk cId="3332963013" sldId="264"/>
            <ac:spMk id="2" creationId="{FE43895E-25C4-02E7-C851-D024C5BB532F}"/>
          </ac:spMkLst>
        </pc:spChg>
      </pc:sldChg>
      <pc:sldChg chg="addSp delSp modSp new mod">
        <pc:chgData name="Nivetha S" userId="a83978eca231f15f" providerId="LiveId" clId="{2F86737D-55FE-4C41-93B3-92A06FED69C5}" dt="2025-07-16T07:35:35.563" v="311" actId="1076"/>
        <pc:sldMkLst>
          <pc:docMk/>
          <pc:sldMk cId="4192792768" sldId="265"/>
        </pc:sldMkLst>
        <pc:spChg chg="mod">
          <ac:chgData name="Nivetha S" userId="a83978eca231f15f" providerId="LiveId" clId="{2F86737D-55FE-4C41-93B3-92A06FED69C5}" dt="2025-07-16T07:34:38.909" v="309" actId="27636"/>
          <ac:spMkLst>
            <pc:docMk/>
            <pc:sldMk cId="4192792768" sldId="265"/>
            <ac:spMk id="2" creationId="{6E641909-DD0C-1314-DBFB-D24978D4762E}"/>
          </ac:spMkLst>
        </pc:spChg>
        <pc:spChg chg="mod">
          <ac:chgData name="Nivetha S" userId="a83978eca231f15f" providerId="LiveId" clId="{2F86737D-55FE-4C41-93B3-92A06FED69C5}" dt="2025-07-16T07:35:35.563" v="311" actId="1076"/>
          <ac:spMkLst>
            <pc:docMk/>
            <pc:sldMk cId="4192792768" sldId="265"/>
            <ac:spMk id="3" creationId="{4B15EF28-3AB7-89DD-7783-4523F8312989}"/>
          </ac:spMkLst>
        </pc:spChg>
        <pc:spChg chg="add del mod">
          <ac:chgData name="Nivetha S" userId="a83978eca231f15f" providerId="LiveId" clId="{2F86737D-55FE-4C41-93B3-92A06FED69C5}" dt="2025-07-16T07:15:01.080" v="186"/>
          <ac:spMkLst>
            <pc:docMk/>
            <pc:sldMk cId="4192792768" sldId="265"/>
            <ac:spMk id="4" creationId="{83854846-69CB-02EB-C7CE-EA59D07D7945}"/>
          </ac:spMkLst>
        </pc:spChg>
        <pc:spChg chg="add">
          <ac:chgData name="Nivetha S" userId="a83978eca231f15f" providerId="LiveId" clId="{2F86737D-55FE-4C41-93B3-92A06FED69C5}" dt="2025-07-16T07:15:57.900" v="201"/>
          <ac:spMkLst>
            <pc:docMk/>
            <pc:sldMk cId="4192792768" sldId="265"/>
            <ac:spMk id="5" creationId="{3A81A7D0-6B6B-7D13-4EEF-FC270B305281}"/>
          </ac:spMkLst>
        </pc:spChg>
        <pc:spChg chg="add del mod">
          <ac:chgData name="Nivetha S" userId="a83978eca231f15f" providerId="LiveId" clId="{2F86737D-55FE-4C41-93B3-92A06FED69C5}" dt="2025-07-16T07:32:04.976" v="251"/>
          <ac:spMkLst>
            <pc:docMk/>
            <pc:sldMk cId="4192792768" sldId="265"/>
            <ac:spMk id="6" creationId="{08AC3D5A-9BB9-5922-AB25-0A85CB3B82A1}"/>
          </ac:spMkLst>
        </pc:spChg>
        <pc:spChg chg="add del mod">
          <ac:chgData name="Nivetha S" userId="a83978eca231f15f" providerId="LiveId" clId="{2F86737D-55FE-4C41-93B3-92A06FED69C5}" dt="2025-07-16T07:32:04.977" v="253"/>
          <ac:spMkLst>
            <pc:docMk/>
            <pc:sldMk cId="4192792768" sldId="265"/>
            <ac:spMk id="7" creationId="{6B914CFF-00E2-A8E9-EA6A-9EA2CD85A4F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3845E2-AAD2-4000-A118-15AE982477ED}"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2348448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3845E2-AAD2-4000-A118-15AE982477ED}"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4044738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3845E2-AAD2-4000-A118-15AE982477ED}"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1824274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3845E2-AAD2-4000-A118-15AE982477ED}"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305083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3845E2-AAD2-4000-A118-15AE982477ED}" type="datetimeFigureOut">
              <a:rPr lang="en-US" smtClean="0"/>
              <a:t>7/18/2025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2694858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3845E2-AAD2-4000-A118-15AE982477ED}" type="datetimeFigureOut">
              <a:rPr lang="en-US" smtClean="0"/>
              <a:t>7/18/2025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55042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3845E2-AAD2-4000-A118-15AE982477ED}" type="datetimeFigureOut">
              <a:rPr lang="en-US" smtClean="0"/>
              <a:t>7/18/2025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76573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3845E2-AAD2-4000-A118-15AE982477ED}"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4188892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3845E2-AAD2-4000-A118-15AE982477ED}"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4284387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3845E2-AAD2-4000-A118-15AE982477ED}"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289178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3845E2-AAD2-4000-A118-15AE982477ED}"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CD996-4129-4423-A690-14F199545DB6}" type="slidenum">
              <a:rPr lang="en-US" smtClean="0"/>
              <a:t>‹#›</a:t>
            </a:fld>
            <a:endParaRPr lang="en-US"/>
          </a:p>
        </p:txBody>
      </p:sp>
    </p:spTree>
    <p:extLst>
      <p:ext uri="{BB962C8B-B14F-4D97-AF65-F5344CB8AC3E}">
        <p14:creationId xmlns:p14="http://schemas.microsoft.com/office/powerpoint/2010/main" val="291896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3845E2-AAD2-4000-A118-15AE982477ED}" type="datetimeFigureOut">
              <a:rPr lang="en-US" smtClean="0"/>
              <a:t>7/18/2025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1CD996-4129-4423-A690-14F199545DB6}" type="slidenum">
              <a:rPr lang="en-US" smtClean="0"/>
              <a:t>‹#›</a:t>
            </a:fld>
            <a:endParaRPr lang="en-US"/>
          </a:p>
        </p:txBody>
      </p:sp>
    </p:spTree>
    <p:extLst>
      <p:ext uri="{BB962C8B-B14F-4D97-AF65-F5344CB8AC3E}">
        <p14:creationId xmlns:p14="http://schemas.microsoft.com/office/powerpoint/2010/main" val="210844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Blank wooden table with fire burning at the edge of the table, fire sparks and smoke with flames on a dark background to display produc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143000" y="2194193"/>
            <a:ext cx="6858000" cy="1200329"/>
          </a:xfrm>
          <a:prstGeom prst="rect">
            <a:avLst/>
          </a:prstGeom>
          <a:noFill/>
        </p:spPr>
        <p:txBody>
          <a:bodyPr wrap="square" rtlCol="0">
            <a:spAutoFit/>
          </a:bodyPr>
          <a:lstStyle/>
          <a:p>
            <a:pPr algn="ctr"/>
            <a:r>
              <a:rPr lang="en-US" sz="3600" b="1" dirty="0">
                <a:solidFill>
                  <a:schemeClr val="bg1"/>
                </a:solidFill>
                <a:effectLst>
                  <a:outerShdw blurRad="38100" dist="38100" dir="2700000" algn="tl">
                    <a:srgbClr val="000000">
                      <a:alpha val="43137"/>
                    </a:srgbClr>
                  </a:outerShdw>
                </a:effectLst>
                <a:latin typeface="Arial Black" pitchFamily="34" charset="0"/>
              </a:rPr>
              <a:t>AI-Powered Recipe Recommendation System</a:t>
            </a:r>
          </a:p>
        </p:txBody>
      </p:sp>
      <p:sp>
        <p:nvSpPr>
          <p:cNvPr id="3" name="TextBox 2"/>
          <p:cNvSpPr txBox="1"/>
          <p:nvPr/>
        </p:nvSpPr>
        <p:spPr>
          <a:xfrm>
            <a:off x="1915098" y="3394522"/>
            <a:ext cx="5404692" cy="369332"/>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rPr>
              <a:t>Smart Cooking Assistant using Web Technologies &amp; NLP</a:t>
            </a:r>
          </a:p>
        </p:txBody>
      </p:sp>
      <p:sp>
        <p:nvSpPr>
          <p:cNvPr id="4" name="TextBox 3">
            <a:extLst>
              <a:ext uri="{FF2B5EF4-FFF2-40B4-BE49-F238E27FC236}">
                <a16:creationId xmlns:a16="http://schemas.microsoft.com/office/drawing/2014/main" id="{A1EA0C63-40C2-97BC-AB11-08871438EE41}"/>
              </a:ext>
            </a:extLst>
          </p:cNvPr>
          <p:cNvSpPr txBox="1"/>
          <p:nvPr/>
        </p:nvSpPr>
        <p:spPr>
          <a:xfrm>
            <a:off x="7467600" y="5560140"/>
            <a:ext cx="1905000" cy="738664"/>
          </a:xfrm>
          <a:prstGeom prst="rect">
            <a:avLst/>
          </a:prstGeom>
          <a:noFill/>
        </p:spPr>
        <p:txBody>
          <a:bodyPr wrap="square" rtlCol="0">
            <a:spAutoFit/>
          </a:bodyPr>
          <a:lstStyle/>
          <a:p>
            <a:r>
              <a:rPr lang="en-US" sz="1400" dirty="0">
                <a:solidFill>
                  <a:schemeClr val="bg1"/>
                </a:solidFill>
              </a:rPr>
              <a:t>S.NIVETHA</a:t>
            </a:r>
          </a:p>
          <a:p>
            <a:r>
              <a:rPr lang="en-US" sz="1400" dirty="0">
                <a:solidFill>
                  <a:schemeClr val="bg1"/>
                </a:solidFill>
              </a:rPr>
              <a:t>II MCA</a:t>
            </a:r>
          </a:p>
          <a:p>
            <a:r>
              <a:rPr lang="en-US" sz="1400" dirty="0">
                <a:solidFill>
                  <a:schemeClr val="bg1"/>
                </a:solidFill>
              </a:rPr>
              <a:t>RA243224140034</a:t>
            </a:r>
            <a:endParaRPr lang="en-IN" sz="1400" dirty="0">
              <a:solidFill>
                <a:schemeClr val="bg1"/>
              </a:solidFill>
            </a:endParaRPr>
          </a:p>
        </p:txBody>
      </p:sp>
    </p:spTree>
    <p:extLst>
      <p:ext uri="{BB962C8B-B14F-4D97-AF65-F5344CB8AC3E}">
        <p14:creationId xmlns:p14="http://schemas.microsoft.com/office/powerpoint/2010/main" val="4000598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rial Black" pitchFamily="34" charset="0"/>
              </a:rPr>
              <a:t>Abstract</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This project introduces an AI-powered recipe recommendation system designed individuals often struggle to decide what to cook based on the ingredients available, dietary preferences, or limited time. This project aims to solve that problem by creating an AI-powered recipe recommendation web application that intelligently suggests recipes based on user inputs such as diet type, available ingredients or cravings, and preparation time.</a:t>
            </a:r>
          </a:p>
          <a:p>
            <a:pPr marL="0" indent="0" algn="just">
              <a:buNone/>
            </a:pPr>
            <a:r>
              <a:rPr lang="en-US" sz="1800" dirty="0">
                <a:latin typeface="Times New Roman" panose="02020603050405020304" pitchFamily="18" charset="0"/>
                <a:cs typeface="Times New Roman" panose="02020603050405020304" pitchFamily="18" charset="0"/>
              </a:rPr>
              <a:t>The system leverages </a:t>
            </a:r>
            <a:r>
              <a:rPr lang="en-US" sz="1800" b="1" dirty="0">
                <a:latin typeface="Times New Roman" panose="02020603050405020304" pitchFamily="18" charset="0"/>
                <a:cs typeface="Times New Roman" panose="02020603050405020304" pitchFamily="18" charset="0"/>
              </a:rPr>
              <a:t>Natural Language Processing (NLP) </a:t>
            </a:r>
            <a:r>
              <a:rPr lang="en-US" sz="1800" dirty="0">
                <a:latin typeface="Times New Roman" panose="02020603050405020304" pitchFamily="18" charset="0"/>
                <a:cs typeface="Times New Roman" panose="02020603050405020304" pitchFamily="18" charset="0"/>
              </a:rPr>
              <a:t>techniques to interpret descriptive user queries like “spicy paneer” or “crispy dosa”, even if the input isn’t structured or exact. By analyzing keywords from user input and comparing them with a structured recipe dataset, the application delivers smart, relevant, and user-friendly recipe suggestions.</a:t>
            </a:r>
          </a:p>
          <a:p>
            <a:pPr marL="0" indent="0" algn="just">
              <a:buNone/>
            </a:pPr>
            <a:r>
              <a:rPr lang="en-US" sz="1800" dirty="0">
                <a:latin typeface="Times New Roman" panose="02020603050405020304" pitchFamily="18" charset="0"/>
                <a:cs typeface="Times New Roman" panose="02020603050405020304" pitchFamily="18" charset="0"/>
              </a:rPr>
              <a:t>The project is developed using a </a:t>
            </a:r>
            <a:r>
              <a:rPr lang="en-US" sz="1800" b="1" dirty="0">
                <a:latin typeface="Times New Roman" panose="02020603050405020304" pitchFamily="18" charset="0"/>
                <a:cs typeface="Times New Roman" panose="02020603050405020304" pitchFamily="18" charset="0"/>
              </a:rPr>
              <a:t>Flask-based Python backend</a:t>
            </a:r>
            <a:r>
              <a:rPr lang="en-US" sz="1800" dirty="0">
                <a:latin typeface="Times New Roman" panose="02020603050405020304" pitchFamily="18" charset="0"/>
                <a:cs typeface="Times New Roman" panose="02020603050405020304" pitchFamily="18" charset="0"/>
              </a:rPr>
              <a:t>, integrated with </a:t>
            </a:r>
            <a:r>
              <a:rPr lang="en-US" sz="1800" b="1" dirty="0">
                <a:latin typeface="Times New Roman" panose="02020603050405020304" pitchFamily="18" charset="0"/>
                <a:cs typeface="Times New Roman" panose="02020603050405020304" pitchFamily="18" charset="0"/>
              </a:rPr>
              <a:t>HTML, CSS, and JavaScript</a:t>
            </a:r>
            <a:r>
              <a:rPr lang="en-US" sz="1800" dirty="0">
                <a:latin typeface="Times New Roman" panose="02020603050405020304" pitchFamily="18" charset="0"/>
                <a:cs typeface="Times New Roman" panose="02020603050405020304" pitchFamily="18" charset="0"/>
              </a:rPr>
              <a:t> for a responsive, interactive front-end. Key features include AI-based ingredient matching, prep time filtering, diet-based sorting, dark mode support, favorite saving option, and modal pop-ups that display full recipe details when clicked.</a:t>
            </a:r>
          </a:p>
          <a:p>
            <a:pPr marL="0" indent="0" algn="just">
              <a:buNone/>
            </a:pPr>
            <a:r>
              <a:rPr lang="en-US" sz="1800" dirty="0">
                <a:latin typeface="Times New Roman" panose="02020603050405020304" pitchFamily="18" charset="0"/>
                <a:cs typeface="Times New Roman" panose="02020603050405020304" pitchFamily="18" charset="0"/>
              </a:rPr>
              <a:t>This project not only simplifies meal planning for users but also enhances the overall experience through an engaging UI and intelligent filtering — making it a practical and innovative solution in the space of digital cooking assistants.</a:t>
            </a:r>
          </a:p>
        </p:txBody>
      </p:sp>
    </p:spTree>
    <p:extLst>
      <p:ext uri="{BB962C8B-B14F-4D97-AF65-F5344CB8AC3E}">
        <p14:creationId xmlns:p14="http://schemas.microsoft.com/office/powerpoint/2010/main" val="23813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Arial Black" pitchFamily="34" charset="0"/>
              </a:rPr>
              <a:t>Existing System</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Manual searching on recipe websites</a:t>
            </a:r>
          </a:p>
          <a:p>
            <a:r>
              <a:rPr lang="en-US" sz="2400" dirty="0">
                <a:latin typeface="Times New Roman" pitchFamily="18" charset="0"/>
                <a:cs typeface="Times New Roman" pitchFamily="18" charset="0"/>
              </a:rPr>
              <a:t>Lack of personalization or AI-based filtering</a:t>
            </a:r>
          </a:p>
          <a:p>
            <a:r>
              <a:rPr lang="en-US" sz="2400" dirty="0">
                <a:latin typeface="Times New Roman" pitchFamily="18" charset="0"/>
                <a:cs typeface="Times New Roman" pitchFamily="18" charset="0"/>
              </a:rPr>
              <a:t>No ingredient-specific or dietary-specific matching</a:t>
            </a:r>
          </a:p>
          <a:p>
            <a:r>
              <a:rPr lang="en-US" sz="2400" dirty="0">
                <a:latin typeface="Times New Roman" pitchFamily="18" charset="0"/>
                <a:cs typeface="Times New Roman" pitchFamily="18" charset="0"/>
              </a:rPr>
              <a:t>Overwhelming interfaces with ads/popups</a:t>
            </a:r>
          </a:p>
          <a:p>
            <a:r>
              <a:rPr lang="en-US" sz="2400" dirty="0">
                <a:latin typeface="Times New Roman" pitchFamily="18" charset="0"/>
                <a:cs typeface="Times New Roman" pitchFamily="18" charset="0"/>
              </a:rPr>
              <a:t>No smart filters or time-based recipe suggestions</a:t>
            </a:r>
          </a:p>
        </p:txBody>
      </p:sp>
    </p:spTree>
    <p:extLst>
      <p:ext uri="{BB962C8B-B14F-4D97-AF65-F5344CB8AC3E}">
        <p14:creationId xmlns:p14="http://schemas.microsoft.com/office/powerpoint/2010/main" val="254797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effectLst>
                  <a:outerShdw blurRad="38100" dist="38100" dir="2700000" algn="tl">
                    <a:srgbClr val="000000">
                      <a:alpha val="43137"/>
                    </a:srgbClr>
                  </a:outerShdw>
                </a:effectLst>
                <a:latin typeface="Arial Black" pitchFamily="34" charset="0"/>
              </a:rPr>
              <a:t>Problem Identification &amp; Proposed System</a:t>
            </a:r>
          </a:p>
        </p:txBody>
      </p:sp>
      <p:sp>
        <p:nvSpPr>
          <p:cNvPr id="3" name="Content Placeholder 2"/>
          <p:cNvSpPr>
            <a:spLocks noGrp="1"/>
          </p:cNvSpPr>
          <p:nvPr>
            <p:ph idx="1"/>
          </p:nvPr>
        </p:nvSpPr>
        <p:spPr/>
        <p:txBody>
          <a:bodyPr>
            <a:normAutofit fontScale="92500" lnSpcReduction="20000"/>
          </a:bodyPr>
          <a:lstStyle/>
          <a:p>
            <a:pPr marL="0" indent="0">
              <a:buNone/>
            </a:pPr>
            <a:r>
              <a:rPr lang="en-US" sz="1800" b="1" dirty="0">
                <a:latin typeface="Times New Roman" pitchFamily="18" charset="0"/>
                <a:cs typeface="Times New Roman" pitchFamily="18" charset="0"/>
              </a:rPr>
              <a:t>Problems Identified:</a:t>
            </a:r>
          </a:p>
          <a:p>
            <a:r>
              <a:rPr lang="en-US" sz="1800" b="1" dirty="0">
                <a:latin typeface="Times New Roman" pitchFamily="18" charset="0"/>
                <a:cs typeface="Times New Roman" pitchFamily="18" charset="0"/>
              </a:rPr>
              <a:t>Users don’t get relevant recipes quickly:</a:t>
            </a:r>
          </a:p>
          <a:p>
            <a:pPr marL="0" indent="0">
              <a:buNone/>
            </a:pPr>
            <a:r>
              <a:rPr lang="en-US" sz="1400" dirty="0"/>
              <a:t>	</a:t>
            </a:r>
            <a:r>
              <a:rPr lang="en-US" sz="1700" dirty="0">
                <a:latin typeface="Times New Roman" panose="02020603050405020304" pitchFamily="18" charset="0"/>
                <a:cs typeface="Times New Roman" panose="02020603050405020304" pitchFamily="18" charset="0"/>
              </a:rPr>
              <a:t>On traditional websites or apps, users often scroll through long lists of recipes.</a:t>
            </a:r>
          </a:p>
          <a:p>
            <a:pPr marL="0" indent="0">
              <a:buNone/>
            </a:pPr>
            <a:r>
              <a:rPr lang="en-US" sz="1700" dirty="0">
                <a:latin typeface="Times New Roman" panose="02020603050405020304" pitchFamily="18" charset="0"/>
                <a:cs typeface="Times New Roman" panose="02020603050405020304" pitchFamily="18" charset="0"/>
              </a:rPr>
              <a:t>	If they type </a:t>
            </a:r>
            <a:r>
              <a:rPr lang="en-US" sz="1700" i="1" dirty="0">
                <a:latin typeface="Times New Roman" panose="02020603050405020304" pitchFamily="18" charset="0"/>
                <a:cs typeface="Times New Roman" panose="02020603050405020304" pitchFamily="18" charset="0"/>
              </a:rPr>
              <a:t>"spicy egg curry with low oil"</a:t>
            </a:r>
            <a:r>
              <a:rPr lang="en-US" sz="1700" dirty="0">
                <a:latin typeface="Times New Roman" panose="02020603050405020304" pitchFamily="18" charset="0"/>
                <a:cs typeface="Times New Roman" panose="02020603050405020304" pitchFamily="18" charset="0"/>
              </a:rPr>
              <a:t>, the search may not return accurate results.</a:t>
            </a:r>
          </a:p>
          <a:p>
            <a:pPr marL="0" indent="0">
              <a:buNone/>
            </a:pPr>
            <a:r>
              <a:rPr lang="en-US" sz="1700" dirty="0">
                <a:latin typeface="Times New Roman" panose="02020603050405020304" pitchFamily="18" charset="0"/>
                <a:cs typeface="Times New Roman" panose="02020603050405020304" pitchFamily="18" charset="0"/>
              </a:rPr>
              <a:t>	There's no smart understanding of what the user is </a:t>
            </a:r>
            <a:r>
              <a:rPr lang="en-US" sz="1700" i="1" dirty="0">
                <a:latin typeface="Times New Roman" panose="02020603050405020304" pitchFamily="18" charset="0"/>
                <a:cs typeface="Times New Roman" panose="02020603050405020304" pitchFamily="18" charset="0"/>
              </a:rPr>
              <a:t>really</a:t>
            </a:r>
            <a:r>
              <a:rPr lang="en-US" sz="1700" dirty="0">
                <a:latin typeface="Times New Roman" panose="02020603050405020304" pitchFamily="18" charset="0"/>
                <a:cs typeface="Times New Roman" panose="02020603050405020304" pitchFamily="18" charset="0"/>
              </a:rPr>
              <a:t> craving or needing — it’s keyword-based, not meaning-based.</a:t>
            </a:r>
            <a:endParaRPr lang="en-US" sz="1400" b="1" dirty="0">
              <a:latin typeface="Times New Roman" pitchFamily="18" charset="0"/>
              <a:cs typeface="Times New Roman" pitchFamily="18" charset="0"/>
            </a:endParaRPr>
          </a:p>
          <a:p>
            <a:r>
              <a:rPr lang="en-US" sz="1800" b="1" dirty="0">
                <a:latin typeface="Times New Roman" pitchFamily="18" charset="0"/>
                <a:cs typeface="Times New Roman" pitchFamily="18" charset="0"/>
              </a:rPr>
              <a:t>No intelligent understanding of ingredient combinations:</a:t>
            </a:r>
          </a:p>
          <a:p>
            <a:pPr marL="0" indent="0">
              <a:buNone/>
            </a:pPr>
            <a:r>
              <a:rPr lang="en-US" sz="14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Users may type natural, casual phrases like </a:t>
            </a:r>
            <a:r>
              <a:rPr lang="en-US" sz="1700" i="1" dirty="0">
                <a:latin typeface="Times New Roman" panose="02020603050405020304" pitchFamily="18" charset="0"/>
                <a:cs typeface="Times New Roman" panose="02020603050405020304" pitchFamily="18" charset="0"/>
              </a:rPr>
              <a:t>"cheesy pasta without garlic"</a:t>
            </a:r>
            <a:r>
              <a:rPr lang="en-US" sz="1700" dirty="0">
                <a:latin typeface="Times New Roman" panose="02020603050405020304" pitchFamily="18" charset="0"/>
                <a:cs typeface="Times New Roman" panose="02020603050405020304" pitchFamily="18" charset="0"/>
              </a:rPr>
              <a:t> or </a:t>
            </a:r>
            <a:r>
              <a:rPr lang="en-US" sz="1700" i="1" dirty="0">
                <a:latin typeface="Times New Roman" panose="02020603050405020304" pitchFamily="18" charset="0"/>
                <a:cs typeface="Times New Roman" panose="02020603050405020304" pitchFamily="18" charset="0"/>
              </a:rPr>
              <a:t>"healthy paneer dinner"</a:t>
            </a:r>
            <a:r>
              <a:rPr lang="en-US" sz="1700" dirty="0">
                <a:latin typeface="Times New Roman" panose="02020603050405020304" pitchFamily="18" charset="0"/>
                <a:cs typeface="Times New Roman" panose="02020603050405020304" pitchFamily="18" charset="0"/>
              </a:rPr>
              <a:t>.</a:t>
            </a:r>
          </a:p>
          <a:p>
            <a:pPr marL="0" indent="0">
              <a:buNone/>
            </a:pPr>
            <a:r>
              <a:rPr lang="en-US" sz="1700" dirty="0">
                <a:latin typeface="Times New Roman" panose="02020603050405020304" pitchFamily="18" charset="0"/>
                <a:cs typeface="Times New Roman" panose="02020603050405020304" pitchFamily="18" charset="0"/>
              </a:rPr>
              <a:t>	Most existing systems can't break down and understand such input.</a:t>
            </a:r>
          </a:p>
          <a:p>
            <a:pPr marL="0" indent="0">
              <a:buNone/>
            </a:pPr>
            <a:r>
              <a:rPr lang="en-US" sz="1700" dirty="0">
                <a:latin typeface="Times New Roman" panose="02020603050405020304" pitchFamily="18" charset="0"/>
                <a:cs typeface="Times New Roman" panose="02020603050405020304" pitchFamily="18" charset="0"/>
              </a:rPr>
              <a:t>	They treat all words as simple text and don’t use </a:t>
            </a:r>
            <a:r>
              <a:rPr lang="en-US" sz="1700" b="1" dirty="0">
                <a:latin typeface="Times New Roman" panose="02020603050405020304" pitchFamily="18" charset="0"/>
                <a:cs typeface="Times New Roman" panose="02020603050405020304" pitchFamily="18" charset="0"/>
              </a:rPr>
              <a:t>NLP</a:t>
            </a:r>
            <a:r>
              <a:rPr lang="en-US" sz="1700" dirty="0">
                <a:latin typeface="Times New Roman" panose="02020603050405020304" pitchFamily="18" charset="0"/>
                <a:cs typeface="Times New Roman" panose="02020603050405020304" pitchFamily="18" charset="0"/>
              </a:rPr>
              <a:t> to match recipes based on meaning or ingredient intent.</a:t>
            </a:r>
            <a:endParaRPr lang="en-US" sz="1700" b="1" dirty="0">
              <a:latin typeface="Times New Roman" panose="02020603050405020304" pitchFamily="18" charset="0"/>
              <a:cs typeface="Times New Roman" pitchFamily="18" charset="0"/>
            </a:endParaRPr>
          </a:p>
          <a:p>
            <a:r>
              <a:rPr lang="en-US" sz="2000" b="1" dirty="0">
                <a:latin typeface="Times New Roman" panose="02020603050405020304" pitchFamily="18" charset="0"/>
                <a:cs typeface="Times New Roman" panose="02020603050405020304" pitchFamily="18" charset="0"/>
              </a:rPr>
              <a:t>No support for dietary needs or limited cooking time:</a:t>
            </a:r>
            <a:endParaRPr lang="en-US" sz="1800" b="1"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	People often have specific needs:</a:t>
            </a:r>
          </a:p>
          <a:p>
            <a:pPr marL="457200" lvl="1" indent="0">
              <a:buNone/>
            </a:pPr>
            <a:r>
              <a:rPr lang="en-US" sz="1900" i="1" dirty="0">
                <a:latin typeface="Times New Roman" panose="02020603050405020304" pitchFamily="18" charset="0"/>
                <a:cs typeface="Times New Roman" panose="02020603050405020304" pitchFamily="18" charset="0"/>
              </a:rPr>
              <a:t>		Vegetarian</a:t>
            </a:r>
            <a:r>
              <a:rPr lang="en-US" sz="1900" dirty="0">
                <a:latin typeface="Times New Roman" panose="02020603050405020304" pitchFamily="18" charset="0"/>
                <a:cs typeface="Times New Roman" panose="02020603050405020304" pitchFamily="18" charset="0"/>
              </a:rPr>
              <a:t>, </a:t>
            </a:r>
            <a:r>
              <a:rPr lang="en-US" sz="1900" i="1" dirty="0">
                <a:latin typeface="Times New Roman" panose="02020603050405020304" pitchFamily="18" charset="0"/>
                <a:cs typeface="Times New Roman" panose="02020603050405020304" pitchFamily="18" charset="0"/>
              </a:rPr>
              <a:t>low-calorie</a:t>
            </a:r>
            <a:r>
              <a:rPr lang="en-US" sz="1900" dirty="0">
                <a:latin typeface="Times New Roman" panose="02020603050405020304" pitchFamily="18" charset="0"/>
                <a:cs typeface="Times New Roman" panose="02020603050405020304" pitchFamily="18" charset="0"/>
              </a:rPr>
              <a:t>, </a:t>
            </a:r>
            <a:r>
              <a:rPr lang="en-US" sz="1900" i="1" dirty="0">
                <a:latin typeface="Times New Roman" panose="02020603050405020304" pitchFamily="18" charset="0"/>
                <a:cs typeface="Times New Roman" panose="02020603050405020304" pitchFamily="18" charset="0"/>
              </a:rPr>
              <a:t>gluten-free</a:t>
            </a:r>
            <a:r>
              <a:rPr lang="en-US" sz="1900" dirty="0">
                <a:latin typeface="Times New Roman" panose="02020603050405020304" pitchFamily="18" charset="0"/>
                <a:cs typeface="Times New Roman" panose="02020603050405020304" pitchFamily="18" charset="0"/>
              </a:rPr>
              <a:t>, </a:t>
            </a:r>
            <a:r>
              <a:rPr lang="en-US" sz="1900" i="1" dirty="0">
                <a:latin typeface="Times New Roman" panose="02020603050405020304" pitchFamily="18" charset="0"/>
                <a:cs typeface="Times New Roman" panose="02020603050405020304" pitchFamily="18" charset="0"/>
              </a:rPr>
              <a:t>less than 20 minutes</a:t>
            </a:r>
            <a:r>
              <a:rPr lang="en-US" sz="1900" dirty="0">
                <a:latin typeface="Times New Roman" panose="02020603050405020304" pitchFamily="18" charset="0"/>
                <a:cs typeface="Times New Roman" panose="02020603050405020304" pitchFamily="18" charset="0"/>
              </a:rPr>
              <a:t> prep.</a:t>
            </a:r>
          </a:p>
          <a:p>
            <a:pPr marL="0" indent="0">
              <a:buNone/>
            </a:pPr>
            <a:r>
              <a:rPr lang="en-US" sz="1900" dirty="0">
                <a:latin typeface="Times New Roman" panose="02020603050405020304" pitchFamily="18" charset="0"/>
                <a:cs typeface="Times New Roman" panose="02020603050405020304" pitchFamily="18" charset="0"/>
              </a:rPr>
              <a:t>	Most platforms don’t support multi-criteria filters like diet + time + ingredient.</a:t>
            </a:r>
          </a:p>
          <a:p>
            <a:pPr marL="0" indent="0">
              <a:buNone/>
            </a:pPr>
            <a:r>
              <a:rPr lang="en-US" sz="1900" dirty="0">
                <a:latin typeface="Times New Roman" panose="02020603050405020304" pitchFamily="18" charset="0"/>
                <a:cs typeface="Times New Roman" panose="02020603050405020304" pitchFamily="18" charset="0"/>
              </a:rPr>
              <a:t>	This forces users to manually check each recipe, wasting time.</a:t>
            </a:r>
          </a:p>
          <a:p>
            <a:endParaRPr lang="en-US" sz="1800" b="1" dirty="0">
              <a:latin typeface="Times New Roman" panose="02020603050405020304" pitchFamily="18" charset="0"/>
              <a:cs typeface="Times New Roman" pitchFamily="18" charset="0"/>
            </a:endParaRPr>
          </a:p>
          <a:p>
            <a:pPr marL="0" indent="0">
              <a:buNone/>
            </a:pPr>
            <a:endParaRPr lang="en-US" sz="20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41613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1909-DD0C-1314-DBFB-D24978D4762E}"/>
              </a:ext>
            </a:extLst>
          </p:cNvPr>
          <p:cNvSpPr>
            <a:spLocks noGrp="1"/>
          </p:cNvSpPr>
          <p:nvPr>
            <p:ph type="title"/>
          </p:nvPr>
        </p:nvSpPr>
        <p:spPr>
          <a:xfrm flipV="1">
            <a:off x="-1828800" y="1981200"/>
            <a:ext cx="1066800" cy="22860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4B15EF28-3AB7-89DD-7783-4523F8312989}"/>
              </a:ext>
            </a:extLst>
          </p:cNvPr>
          <p:cNvSpPr>
            <a:spLocks noGrp="1"/>
          </p:cNvSpPr>
          <p:nvPr>
            <p:ph idx="1"/>
          </p:nvPr>
        </p:nvSpPr>
        <p:spPr>
          <a:xfrm>
            <a:off x="457200" y="838200"/>
            <a:ext cx="8229600" cy="4525963"/>
          </a:xfrm>
        </p:spPr>
        <p:txBody>
          <a:bodyPr>
            <a:normAutofit fontScale="92500" lnSpcReduction="20000"/>
          </a:bodyPr>
          <a:lstStyle/>
          <a:p>
            <a:pPr marL="0" indent="0">
              <a:buNone/>
            </a:pPr>
            <a:r>
              <a:rPr lang="en-US" sz="2600" b="1" dirty="0">
                <a:latin typeface="Times New Roman" pitchFamily="18" charset="0"/>
                <a:cs typeface="Times New Roman" pitchFamily="18" charset="0"/>
              </a:rPr>
              <a:t>Proposed System Highlights:</a:t>
            </a:r>
          </a:p>
          <a:p>
            <a:r>
              <a:rPr lang="en-US" sz="1700" b="1" dirty="0">
                <a:latin typeface="Times New Roman" pitchFamily="18" charset="0"/>
                <a:cs typeface="Times New Roman" pitchFamily="18" charset="0"/>
              </a:rPr>
              <a:t>AI matches recipes based on user's ingredients &amp; cravings:</a:t>
            </a:r>
          </a:p>
          <a:p>
            <a:pPr marL="0" lvl="0" indent="0" eaLnBrk="0" fontAlgn="base" hangingPunct="0">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	The system uses Natural Language Processing (NLP) to understand casual input like </a:t>
            </a:r>
            <a:r>
              <a:rPr lang="en-US" altLang="en-US" sz="1600" i="1" dirty="0">
                <a:latin typeface="Times New Roman" panose="02020603050405020304" pitchFamily="18" charset="0"/>
                <a:cs typeface="Times New Roman" panose="02020603050405020304" pitchFamily="18" charset="0"/>
              </a:rPr>
              <a:t>"spicy mushroom dish"</a:t>
            </a:r>
            <a:r>
              <a:rPr lang="en-US" altLang="en-US" sz="1600" dirty="0">
                <a:latin typeface="Times New Roman" panose="02020603050405020304" pitchFamily="18" charset="0"/>
                <a:cs typeface="Times New Roman" panose="02020603050405020304" pitchFamily="18" charset="0"/>
              </a:rPr>
              <a:t> or </a:t>
            </a:r>
            <a:r>
              <a:rPr lang="en-US" altLang="en-US" sz="1600" i="1" dirty="0">
                <a:latin typeface="Times New Roman" panose="02020603050405020304" pitchFamily="18" charset="0"/>
                <a:cs typeface="Times New Roman" panose="02020603050405020304" pitchFamily="18" charset="0"/>
              </a:rPr>
              <a:t>"quick paneer snack"</a:t>
            </a:r>
            <a:r>
              <a:rPr lang="en-US" altLang="en-US" sz="1600" dirty="0">
                <a:latin typeface="Times New Roman" panose="02020603050405020304" pitchFamily="18" charset="0"/>
                <a:cs typeface="Times New Roman" panose="02020603050405020304" pitchFamily="18" charset="0"/>
              </a:rPr>
              <a:t>.</a:t>
            </a:r>
          </a:p>
          <a:p>
            <a:pPr marL="0" lvl="0" indent="0" eaLnBrk="0" fontAlgn="base" hangingPunct="0">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	Based on that, it filters recipes that closely match the meaning behind the user’s request — not just exact words.</a:t>
            </a:r>
          </a:p>
          <a:p>
            <a:pPr marL="0" lvl="0" indent="0" eaLnBrk="0" fontAlgn="base" hangingPunct="0">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	This gives smarter, more relevant recipe suggestions.</a:t>
            </a:r>
            <a:endParaRPr lang="en-US" b="1" dirty="0">
              <a:latin typeface="Times New Roman" pitchFamily="18" charset="0"/>
              <a:cs typeface="Times New Roman" pitchFamily="18" charset="0"/>
            </a:endParaRPr>
          </a:p>
          <a:p>
            <a:r>
              <a:rPr lang="en-US" sz="1700" b="1" dirty="0">
                <a:latin typeface="Times New Roman" pitchFamily="18" charset="0"/>
                <a:cs typeface="Times New Roman" pitchFamily="18" charset="0"/>
              </a:rPr>
              <a:t>Filters for diet type (Vegetarian / Non-Vegetarian):</a:t>
            </a:r>
          </a:p>
          <a:p>
            <a:pPr marL="0" lvl="0" indent="0" eaLnBrk="0" fontAlgn="base" hangingPunct="0">
              <a:spcBef>
                <a:spcPct val="0"/>
              </a:spcBef>
              <a:spcAft>
                <a:spcPct val="0"/>
              </a:spcAft>
              <a:buNone/>
            </a:pPr>
            <a:r>
              <a:rPr lang="en-US" altLang="en-US" sz="17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Users can </a:t>
            </a:r>
            <a:r>
              <a:rPr lang="en-US" altLang="en-US" sz="1600" b="1" dirty="0">
                <a:latin typeface="Times New Roman" panose="02020603050405020304" pitchFamily="18" charset="0"/>
                <a:cs typeface="Times New Roman" panose="02020603050405020304" pitchFamily="18" charset="0"/>
              </a:rPr>
              <a:t>choose dietary preferences</a:t>
            </a:r>
            <a:r>
              <a:rPr lang="en-US" altLang="en-US" sz="1600" dirty="0">
                <a:latin typeface="Times New Roman" panose="02020603050405020304" pitchFamily="18" charset="0"/>
                <a:cs typeface="Times New Roman" panose="02020603050405020304" pitchFamily="18" charset="0"/>
              </a:rPr>
              <a:t>.</a:t>
            </a:r>
          </a:p>
          <a:p>
            <a:pPr marL="0" lvl="0" indent="0" eaLnBrk="0" fontAlgn="base" hangingPunct="0">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	This ensures the system only shows recipes suitable for that preference — a must-have feature for many people.</a:t>
            </a:r>
          </a:p>
          <a:p>
            <a:pPr marL="0" lvl="0" indent="0" eaLnBrk="0" fontAlgn="base" hangingPunct="0">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	Prevents users from having to open and read every recipe to check for ingredients.</a:t>
            </a:r>
            <a:endParaRPr lang="en-US" sz="1600" b="1" dirty="0">
              <a:latin typeface="Times New Roman" pitchFamily="18" charset="0"/>
              <a:cs typeface="Times New Roman" pitchFamily="18" charset="0"/>
            </a:endParaRPr>
          </a:p>
          <a:p>
            <a:r>
              <a:rPr lang="en-US" sz="1700" b="1" dirty="0">
                <a:latin typeface="Times New Roman" pitchFamily="18" charset="0"/>
                <a:cs typeface="Times New Roman" pitchFamily="18" charset="0"/>
              </a:rPr>
              <a:t>Prep time filter to suggest quick meals:</a:t>
            </a:r>
          </a:p>
          <a:p>
            <a:pPr marL="0" lvl="0" indent="0" eaLnBrk="0" fontAlgn="base" hangingPunct="0">
              <a:spcBef>
                <a:spcPct val="0"/>
              </a:spcBef>
              <a:spcAft>
                <a:spcPct val="0"/>
              </a:spcAft>
              <a:buNone/>
            </a:pPr>
            <a:r>
              <a:rPr lang="en-US" altLang="en-US" sz="1700" dirty="0">
                <a:latin typeface="Times New Roman" panose="02020603050405020304" pitchFamily="18" charset="0"/>
                <a:cs typeface="Times New Roman" panose="02020603050405020304" pitchFamily="18" charset="0"/>
              </a:rPr>
              <a:t>	Users can input the </a:t>
            </a:r>
            <a:r>
              <a:rPr lang="en-US" altLang="en-US" sz="1700" b="1" dirty="0">
                <a:latin typeface="Times New Roman" panose="02020603050405020304" pitchFamily="18" charset="0"/>
                <a:cs typeface="Times New Roman" panose="02020603050405020304" pitchFamily="18" charset="0"/>
              </a:rPr>
              <a:t>maximum time</a:t>
            </a:r>
            <a:r>
              <a:rPr lang="en-US" altLang="en-US" sz="1700" dirty="0">
                <a:latin typeface="Times New Roman" panose="02020603050405020304" pitchFamily="18" charset="0"/>
                <a:cs typeface="Times New Roman" panose="02020603050405020304" pitchFamily="18" charset="0"/>
              </a:rPr>
              <a:t> they can spend cooking (e.g., 15 or 30 minutes).</a:t>
            </a:r>
          </a:p>
          <a:p>
            <a:pPr marL="0" lvl="0" indent="0" eaLnBrk="0" fontAlgn="base" hangingPunct="0">
              <a:spcBef>
                <a:spcPct val="0"/>
              </a:spcBef>
              <a:spcAft>
                <a:spcPct val="0"/>
              </a:spcAft>
              <a:buNone/>
            </a:pPr>
            <a:r>
              <a:rPr lang="en-US" altLang="en-US" sz="1700" dirty="0">
                <a:latin typeface="Times New Roman" panose="02020603050405020304" pitchFamily="18" charset="0"/>
                <a:cs typeface="Times New Roman" panose="02020603050405020304" pitchFamily="18" charset="0"/>
              </a:rPr>
              <a:t>	The system shows only those recipes that meet the time limit.</a:t>
            </a:r>
          </a:p>
          <a:p>
            <a:pPr marL="0" lvl="0" indent="0" eaLnBrk="0" fontAlgn="base" hangingPunct="0">
              <a:spcBef>
                <a:spcPct val="0"/>
              </a:spcBef>
              <a:spcAft>
                <a:spcPct val="0"/>
              </a:spcAft>
              <a:buNone/>
            </a:pPr>
            <a:r>
              <a:rPr lang="en-US" altLang="en-US" sz="1700" dirty="0">
                <a:latin typeface="Times New Roman" panose="02020603050405020304" pitchFamily="18" charset="0"/>
                <a:cs typeface="Times New Roman" panose="02020603050405020304" pitchFamily="18" charset="0"/>
              </a:rPr>
              <a:t>	Ideal for busy students or working individuals who want fast meals.</a:t>
            </a:r>
            <a:endParaRPr lang="en-US" sz="1700" b="1" dirty="0">
              <a:latin typeface="Times New Roman" pitchFamily="18" charset="0"/>
              <a:cs typeface="Times New Roman" pitchFamily="18" charset="0"/>
            </a:endParaRPr>
          </a:p>
          <a:p>
            <a:r>
              <a:rPr lang="en-US" sz="1800" b="1" dirty="0">
                <a:latin typeface="Times New Roman" pitchFamily="18" charset="0"/>
                <a:cs typeface="Times New Roman" pitchFamily="18" charset="0"/>
              </a:rPr>
              <a:t>Dark mode, recipe popup modal, and favorites.</a:t>
            </a:r>
          </a:p>
          <a:p>
            <a:r>
              <a:rPr lang="en-US" sz="1800" b="1" dirty="0">
                <a:latin typeface="Times New Roman" pitchFamily="18" charset="0"/>
                <a:cs typeface="Times New Roman" pitchFamily="18" charset="0"/>
              </a:rPr>
              <a:t>Data-driven recommendation using CSV dataset.</a:t>
            </a:r>
          </a:p>
          <a:p>
            <a:r>
              <a:rPr lang="en-US" sz="1800" b="1" dirty="0">
                <a:latin typeface="Times New Roman" pitchFamily="18" charset="0"/>
                <a:cs typeface="Times New Roman" pitchFamily="18" charset="0"/>
              </a:rPr>
              <a:t>Calculate the calories </a:t>
            </a:r>
          </a:p>
          <a:p>
            <a:endParaRPr lang="en-IN" dirty="0"/>
          </a:p>
        </p:txBody>
      </p:sp>
    </p:spTree>
    <p:extLst>
      <p:ext uri="{BB962C8B-B14F-4D97-AF65-F5344CB8AC3E}">
        <p14:creationId xmlns:p14="http://schemas.microsoft.com/office/powerpoint/2010/main" val="419279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3895E-25C4-02E7-C851-D024C5BB532F}"/>
              </a:ext>
            </a:extLst>
          </p:cNvPr>
          <p:cNvSpPr>
            <a:spLocks noGrp="1"/>
          </p:cNvSpPr>
          <p:nvPr>
            <p:ph type="title"/>
          </p:nvPr>
        </p:nvSpPr>
        <p:spPr/>
        <p:txBody>
          <a:bodyPr/>
          <a:lstStyle/>
          <a:p>
            <a:r>
              <a:rPr lang="en-US" dirty="0">
                <a:effectLst>
                  <a:outerShdw blurRad="38100" dist="38100" dir="2700000" algn="tl">
                    <a:srgbClr val="000000">
                      <a:alpha val="43137"/>
                    </a:srgbClr>
                  </a:outerShdw>
                </a:effectLst>
                <a:latin typeface="Arial Black" panose="020B0A04020102020204" pitchFamily="34" charset="0"/>
              </a:rPr>
              <a:t>Activity diagram</a:t>
            </a:r>
            <a:endParaRPr lang="en-IN" dirty="0">
              <a:effectLst>
                <a:outerShdw blurRad="38100" dist="38100" dir="2700000" algn="tl">
                  <a:srgbClr val="000000">
                    <a:alpha val="43137"/>
                  </a:srgbClr>
                </a:outerShdw>
              </a:effectLst>
              <a:latin typeface="Arial Black" panose="020B0A04020102020204" pitchFamily="34" charset="0"/>
            </a:endParaRPr>
          </a:p>
        </p:txBody>
      </p:sp>
      <p:pic>
        <p:nvPicPr>
          <p:cNvPr id="9" name="Content Placeholder 8">
            <a:extLst>
              <a:ext uri="{FF2B5EF4-FFF2-40B4-BE49-F238E27FC236}">
                <a16:creationId xmlns:a16="http://schemas.microsoft.com/office/drawing/2014/main" id="{5AC5305E-CA97-2ABE-1C94-2AB904ECC7A0}"/>
              </a:ext>
            </a:extLst>
          </p:cNvPr>
          <p:cNvPicPr>
            <a:picLocks noGrp="1" noChangeAspect="1"/>
          </p:cNvPicPr>
          <p:nvPr>
            <p:ph idx="1"/>
          </p:nvPr>
        </p:nvPicPr>
        <p:blipFill>
          <a:blip r:embed="rId2"/>
          <a:srcRect b="17391"/>
          <a:stretch>
            <a:fillRect/>
          </a:stretch>
        </p:blipFill>
        <p:spPr>
          <a:xfrm>
            <a:off x="457200" y="1958435"/>
            <a:ext cx="8229600" cy="4366165"/>
          </a:xfrm>
        </p:spPr>
      </p:pic>
    </p:spTree>
    <p:extLst>
      <p:ext uri="{BB962C8B-B14F-4D97-AF65-F5344CB8AC3E}">
        <p14:creationId xmlns:p14="http://schemas.microsoft.com/office/powerpoint/2010/main" val="3332963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latin typeface="Arial Black" pitchFamily="34" charset="0"/>
                <a:cs typeface="Times New Roman" pitchFamily="18" charset="0"/>
              </a:rPr>
              <a:t>Summary</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An intelligent, responsive recipe search platform</a:t>
            </a:r>
          </a:p>
          <a:p>
            <a:r>
              <a:rPr lang="en-US" sz="2400" dirty="0">
                <a:latin typeface="Times New Roman" pitchFamily="18" charset="0"/>
                <a:cs typeface="Times New Roman" pitchFamily="18" charset="0"/>
              </a:rPr>
              <a:t>Uses real-time filtering from CSV data</a:t>
            </a:r>
          </a:p>
          <a:p>
            <a:r>
              <a:rPr lang="en-US" sz="2400" dirty="0">
                <a:latin typeface="Times New Roman" pitchFamily="18" charset="0"/>
                <a:cs typeface="Times New Roman" pitchFamily="18" charset="0"/>
              </a:rPr>
              <a:t>Offers AI-based user interaction using simple NLP matching</a:t>
            </a:r>
          </a:p>
          <a:p>
            <a:r>
              <a:rPr lang="en-US" sz="2400" dirty="0">
                <a:latin typeface="Times New Roman" pitchFamily="18" charset="0"/>
                <a:cs typeface="Times New Roman" pitchFamily="18" charset="0"/>
              </a:rPr>
              <a:t>Improves user cooking experience with clear UI, recipe previews, and customization</a:t>
            </a:r>
          </a:p>
          <a:p>
            <a:r>
              <a:rPr lang="en-US" sz="2400" dirty="0">
                <a:latin typeface="Times New Roman" pitchFamily="18" charset="0"/>
                <a:cs typeface="Times New Roman" pitchFamily="18" charset="0"/>
              </a:rPr>
              <a:t>Easily extendable with ML, </a:t>
            </a:r>
            <a:r>
              <a:rPr lang="en-US" sz="2400" dirty="0" err="1">
                <a:latin typeface="Times New Roman" pitchFamily="18" charset="0"/>
                <a:cs typeface="Times New Roman" pitchFamily="18" charset="0"/>
              </a:rPr>
              <a:t>chatbot</a:t>
            </a:r>
            <a:r>
              <a:rPr lang="en-US" sz="2400" dirty="0">
                <a:latin typeface="Times New Roman" pitchFamily="18" charset="0"/>
                <a:cs typeface="Times New Roman" pitchFamily="18" charset="0"/>
              </a:rPr>
              <a:t>, voice input, or backend database</a:t>
            </a:r>
          </a:p>
          <a:p>
            <a:pPr marL="0" indent="0">
              <a:buNone/>
            </a:pPr>
            <a:endParaRPr lang="en-US" sz="2400" dirty="0"/>
          </a:p>
        </p:txBody>
      </p:sp>
    </p:spTree>
    <p:extLst>
      <p:ext uri="{BB962C8B-B14F-4D97-AF65-F5344CB8AC3E}">
        <p14:creationId xmlns:p14="http://schemas.microsoft.com/office/powerpoint/2010/main" val="1906891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4E61E-94C8-4E8C-12C0-9D199C9BFB8F}"/>
              </a:ext>
            </a:extLst>
          </p:cNvPr>
          <p:cNvSpPr txBox="1"/>
          <p:nvPr/>
        </p:nvSpPr>
        <p:spPr>
          <a:xfrm>
            <a:off x="1524000" y="2438400"/>
            <a:ext cx="6096000" cy="1323439"/>
          </a:xfrm>
          <a:prstGeom prst="rect">
            <a:avLst/>
          </a:prstGeom>
          <a:noFill/>
        </p:spPr>
        <p:txBody>
          <a:bodyPr wrap="square" rtlCol="0">
            <a:spAutoFit/>
          </a:bodyPr>
          <a:lstStyle/>
          <a:p>
            <a:r>
              <a:rPr lang="en-US" sz="8000" dirty="0">
                <a:effectLst>
                  <a:outerShdw blurRad="38100" dist="38100" dir="2700000" algn="tl">
                    <a:srgbClr val="000000">
                      <a:alpha val="43137"/>
                    </a:srgbClr>
                  </a:outerShdw>
                </a:effectLst>
                <a:latin typeface="Arial Black" panose="020B0A04020102020204" pitchFamily="34" charset="0"/>
              </a:rPr>
              <a:t>Thank You</a:t>
            </a:r>
            <a:endParaRPr lang="en-IN" sz="8000" dirty="0">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4120428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717</Words>
  <Application>Microsoft Office PowerPoint</Application>
  <PresentationFormat>On-screen Show (4:3)</PresentationFormat>
  <Paragraphs>56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Times New Roman</vt:lpstr>
      <vt:lpstr>Office Theme</vt:lpstr>
      <vt:lpstr>PowerPoint Presentation</vt:lpstr>
      <vt:lpstr>Abstract</vt:lpstr>
      <vt:lpstr>Existing System</vt:lpstr>
      <vt:lpstr>Problem Identification &amp; Proposed System</vt:lpstr>
      <vt:lpstr>PowerPoint Presentation</vt:lpstr>
      <vt:lpstr>Activity diagram</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Nivetha S</cp:lastModifiedBy>
  <cp:revision>7</cp:revision>
  <dcterms:created xsi:type="dcterms:W3CDTF">2025-07-15T04:16:30Z</dcterms:created>
  <dcterms:modified xsi:type="dcterms:W3CDTF">2025-07-18T07:13:28Z</dcterms:modified>
</cp:coreProperties>
</file>